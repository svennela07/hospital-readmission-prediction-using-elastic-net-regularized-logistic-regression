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A462E4E-2E74-98A8-B1E2-2B686B190860}">
          <p14:sldIdLst>
            <p14:sldId id="256"/>
            <p14:sldId id="257"/>
            <p14:sldId id="258"/>
            <p14:sldId id="259"/>
            <p14:sldId id="260"/>
          </p14:sldIdLst>
        </p14:section>
        <p14:section name="Design" id="{3BA2A74C-8C6A-370D-6F39-6D5486A65B56}">
          <p14:sldIdLst>
            <p14:sldId id="261"/>
            <p14:sldId id="262"/>
            <p14:sldId id="263"/>
            <p14:sldId id="264"/>
            <p14:sldId id="265"/>
          </p14:sldIdLst>
        </p14:section>
        <p14:section name="Implementation" id="{4054F913-D16B-9461-D485-DD17928AEE35}">
          <p14:sldIdLst>
            <p14:sldId id="266"/>
            <p14:sldId id="267"/>
            <p14:sldId id="268"/>
          </p14:sldIdLst>
        </p14:section>
        <p14:section name="Results" id="{54E96DA6-DD8F-5CE3-6E1D-31C1E72295C8}">
          <p14:sldIdLst>
            <p14:sldId id="269"/>
          </p14:sldIdLst>
        </p14:section>
        <p14:section name="Demo" id="{43D9D717-4916-0F9E-D528-96862D0C1E86}">
          <p14:sldIdLst>
            <p14:sldId id="270"/>
            <p14:sldId id="271"/>
          </p14:sldIdLst>
        </p14:section>
        <p14:section name="Wrap-up" id="{F81D928D-7821-167F-E868-B8B684EDEA03}">
          <p14:sldIdLst>
            <p14:sldId id="272"/>
            <p14:sldId id="273"/>
            <p14:sldId id="274"/>
            <p14:sldId id="27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41412"/>
                </a:solidFill>
                <a:latin typeface="+mn-lt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041412"/>
                </a:solidFill>
                <a:latin typeface="+mn-lt"/>
              </a:rPr>
              <a:t>Test-set metrics (%), 120 records</a:t>
            </a:r>
            <a:endParaRPr sz="1200" b="0" i="0" u="none" strike="noStrike">
              <a:solidFill>
                <a:srgbClr val="041412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score (%)</c:v>
                </c:pt>
              </c:strCache>
            </c:strRef>
          </c:tx>
          <c:spPr>
            <a:solidFill>
              <a:srgbClr val="1A8F7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041412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  <c:pt idx="4">
                  <c:v>ROC-AUC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80.83</c:v>
                </c:pt>
                <c:pt idx="1">
                  <c:v>81.16</c:v>
                </c:pt>
                <c:pt idx="2">
                  <c:v>84.85</c:v>
                </c:pt>
                <c:pt idx="3">
                  <c:v>82.96</c:v>
                </c:pt>
                <c:pt idx="4">
                  <c:v>88.69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50" b="0" i="0" u="none" strike="noStrike" kern="1200" baseline="0">
                <a:solidFill>
                  <a:srgbClr val="041412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 cmpd="sng" algn="ctr">
              <a:solidFill>
                <a:srgbClr val="D5E6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4F766C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0f90fff-fd49-407c-ac07-df52b166ab5c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4" name="Text 2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6"/>
                </a:solidFill>
              </a:rPr>
              <a:t>Hospital Readmission Prediction  |  Team 23</a:t>
            </a:r>
            <a:endParaRPr lang="en-US" sz="900" dirty="0"/>
          </a:p>
        </p:txBody>
      </p:sp>
      <p:sp>
        <p:nvSpPr>
          <p:cNvPr id="5" name="Text 3"/>
          <p:cNvSpPr/>
          <p:nvPr>
            <p:ph type="title" idx="103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4" name="Text 2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5"/>
                </a:solidFill>
              </a:rPr>
              <a:t>Hospital Readmission Prediction  |  Team 23</a:t>
            </a:r>
            <a:endParaRPr lang="en-US" sz="900" dirty="0"/>
          </a:p>
        </p:txBody>
      </p:sp>
      <p:sp>
        <p:nvSpPr>
          <p:cNvPr id="5" name="Text 3"/>
          <p:cNvSpPr/>
          <p:nvPr>
            <p:ph type="title" idx="103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frame"/>
          <p:cNvSpPr/>
          <p:nvPr/>
        </p:nvSpPr>
        <p:spPr>
          <a:xfrm>
            <a:off x="5440680" y="548640"/>
            <a:ext cx="3246120" cy="3246120"/>
          </a:xfrm>
          <a:prstGeom prst="rect">
            <a:avLst/>
          </a:prstGeom>
          <a:solidFill>
            <a:schemeClr val="accent2"/>
          </a:solidFill>
        </p:spPr>
      </p:sp>
      <p:pic>
        <p:nvPicPr>
          <p:cNvPr id="3" name="hero image" descr="Surgeons in an operating theatre with a readmission risk car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685800"/>
            <a:ext cx="3246120" cy="32278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486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MACHINE LEARNING  |  25CS2107E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475488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</a:rPr>
              <a:t>Hospital Readmission Prediction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423160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</a:rPr>
              <a:t>Using Elastic Net Regularized Logistic Regression</a:t>
            </a:r>
            <a:endParaRPr lang="en-US" sz="1600" dirty="0"/>
          </a:p>
        </p:txBody>
      </p:sp>
      <p:sp>
        <p:nvSpPr>
          <p:cNvPr id="7" name="rule"/>
          <p:cNvSpPr/>
          <p:nvPr/>
        </p:nvSpPr>
        <p:spPr>
          <a:xfrm>
            <a:off x="548640" y="3291840"/>
            <a:ext cx="731520" cy="4572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8" name="Text 5"/>
          <p:cNvSpPr txBox="1"/>
          <p:nvPr/>
        </p:nvSpPr>
        <p:spPr>
          <a:xfrm>
            <a:off x="548640" y="3474720"/>
            <a:ext cx="47548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S. Vennela (2520080018)  |  Krishna Sree (252008009)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Team 23  |  Section 13  |  A.Y. 2026-2027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Guide: Mrs. Ch. Anitha, Assistant Professor, CS&amp;IT</a:t>
            </a:r>
            <a:endParaRPr lang="en-US" sz="1100" dirty="0"/>
          </a:p>
        </p:txBody>
      </p:sp>
      <p:sp>
        <p:nvSpPr>
          <p:cNvPr id="9" name="logo card"/>
          <p:cNvSpPr/>
          <p:nvPr/>
        </p:nvSpPr>
        <p:spPr>
          <a:xfrm>
            <a:off x="5577840" y="4069080"/>
            <a:ext cx="3246120" cy="777240"/>
          </a:xfrm>
          <a:prstGeom prst="rect">
            <a:avLst/>
          </a:prstGeom>
          <a:solidFill>
            <a:srgbClr val="F4E9D0"/>
          </a:solidFill>
        </p:spPr>
      </p:sp>
      <p:pic>
        <p:nvPicPr>
          <p:cNvPr id="10" name="university logo" descr="KL University Bachupally logo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60720" y="4114800"/>
            <a:ext cx="1737360" cy="6858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43800" y="4069080"/>
            <a:ext cx="1234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tx2"/>
                </a:solidFill>
              </a:rPr>
              <a:t>Hyderabad - 500090, Telangana, India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title" idx="103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Background: why readmissions matter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hospital readmission is when a patient returns for further treatment after discharge. Frequent readmissions raise costs, hurt care quality and strain hospital resources.</a:t>
            </a:r>
            <a:endParaRPr lang="en-US" sz="1400" dirty="0"/>
          </a:p>
        </p:txBody>
      </p:sp>
      <p:sp>
        <p:nvSpPr>
          <p:cNvPr id="4" name="intro card 1"/>
          <p:cNvSpPr/>
          <p:nvPr/>
        </p:nvSpPr>
        <p:spPr>
          <a:xfrm>
            <a:off x="457200" y="1828800"/>
            <a:ext cx="2651760" cy="237744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intro card 1 accent"/>
          <p:cNvSpPr/>
          <p:nvPr/>
        </p:nvSpPr>
        <p:spPr>
          <a:xfrm>
            <a:off x="457200" y="1828800"/>
            <a:ext cx="54864" cy="237744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6" name="Text 4"/>
          <p:cNvSpPr txBox="1"/>
          <p:nvPr/>
        </p:nvSpPr>
        <p:spPr>
          <a:xfrm>
            <a:off x="640080" y="19202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Domain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233172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Machine Learning, Healthcare Analytics and Predictive Modeling, supporting clinical decision-making.</a:t>
            </a:r>
            <a:endParaRPr lang="en-US" sz="1350" dirty="0"/>
          </a:p>
        </p:txBody>
      </p:sp>
      <p:sp>
        <p:nvSpPr>
          <p:cNvPr id="8" name="intro card 2"/>
          <p:cNvSpPr/>
          <p:nvPr/>
        </p:nvSpPr>
        <p:spPr>
          <a:xfrm>
            <a:off x="3246120" y="1828800"/>
            <a:ext cx="2651760" cy="237744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intro card 2 accent"/>
          <p:cNvSpPr/>
          <p:nvPr/>
        </p:nvSpPr>
        <p:spPr>
          <a:xfrm>
            <a:off x="3246120" y="1828800"/>
            <a:ext cx="54864" cy="237744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10" name="Text 8"/>
          <p:cNvSpPr txBox="1"/>
          <p:nvPr/>
        </p:nvSpPr>
        <p:spPr>
          <a:xfrm>
            <a:off x="3429000" y="19202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The model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286000"/>
            <a:ext cx="233172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Logistic Regression predicts readmitted or not. Elastic Net blends L1 and L2 penalties to cut overfitting and drop irrelevant features.</a:t>
            </a:r>
            <a:endParaRPr lang="en-US" sz="1350" dirty="0"/>
          </a:p>
        </p:txBody>
      </p:sp>
      <p:sp>
        <p:nvSpPr>
          <p:cNvPr id="12" name="intro card 3"/>
          <p:cNvSpPr/>
          <p:nvPr/>
        </p:nvSpPr>
        <p:spPr>
          <a:xfrm>
            <a:off x="6035040" y="1828800"/>
            <a:ext cx="2651760" cy="237744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intro card 3 accent"/>
          <p:cNvSpPr/>
          <p:nvPr/>
        </p:nvSpPr>
        <p:spPr>
          <a:xfrm>
            <a:off x="6035040" y="1828800"/>
            <a:ext cx="54864" cy="237744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14" name="Text 12"/>
          <p:cNvSpPr txBox="1"/>
          <p:nvPr/>
        </p:nvSpPr>
        <p:spPr>
          <a:xfrm>
            <a:off x="6217920" y="19202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Why it is needed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286000"/>
            <a:ext cx="233172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Flag high-risk patients early, plan follow-up care, reduce preventable readmissions and lower healthcare costs.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title" idx="103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Problem statement</a:t>
            </a:r>
            <a:endParaRPr lang="en-US" sz="2600" dirty="0"/>
          </a:p>
        </p:txBody>
      </p:sp>
      <p:sp>
        <p:nvSpPr>
          <p:cNvPr id="3" name="problem card 1"/>
          <p:cNvSpPr/>
          <p:nvPr/>
        </p:nvSpPr>
        <p:spPr>
          <a:xfrm>
            <a:off x="457200" y="1097280"/>
            <a:ext cx="2651760" cy="329184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problem card 1 accent"/>
          <p:cNvSpPr/>
          <p:nvPr/>
        </p:nvSpPr>
        <p:spPr>
          <a:xfrm>
            <a:off x="457200" y="1097280"/>
            <a:ext cx="54864" cy="3291840"/>
          </a:xfrm>
          <a:prstGeom prst="rect">
            <a:avLst/>
          </a:prstGeom>
          <a:solidFill>
            <a:schemeClr val="accent3"/>
          </a:solidFill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Existing problem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233172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Hospitals struggle to identify patients likely to return after discharge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Traditional methods miss high-risk patients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Higher treatment costs and workload</a:t>
            </a:r>
            <a:endParaRPr lang="en-US" sz="1300" dirty="0"/>
          </a:p>
        </p:txBody>
      </p:sp>
      <p:sp>
        <p:nvSpPr>
          <p:cNvPr id="7" name="problem card 2"/>
          <p:cNvSpPr/>
          <p:nvPr/>
        </p:nvSpPr>
        <p:spPr>
          <a:xfrm>
            <a:off x="3246120" y="1097280"/>
            <a:ext cx="2651760" cy="329184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problem card 2 accent"/>
          <p:cNvSpPr/>
          <p:nvPr/>
        </p:nvSpPr>
        <p:spPr>
          <a:xfrm>
            <a:off x="3246120" y="1097280"/>
            <a:ext cx="54864" cy="3291840"/>
          </a:xfrm>
          <a:prstGeom prst="rect">
            <a:avLst/>
          </a:prstGeom>
          <a:solidFill>
            <a:schemeClr val="accent4"/>
          </a:solidFill>
        </p:spPr>
      </p:sp>
      <p:sp>
        <p:nvSpPr>
          <p:cNvPr id="9" name="Text 7"/>
          <p:cNvSpPr txBox="1"/>
          <p:nvPr/>
        </p:nvSpPr>
        <p:spPr>
          <a:xfrm>
            <a:off x="3429000" y="11887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Challenges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691640"/>
            <a:ext cx="233172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Missing or incorrect data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Imbalanced patient records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Choosing important features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Overfitting and prediction errors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Patient data privacy</a:t>
            </a:r>
            <a:endParaRPr lang="en-US" sz="1300" dirty="0"/>
          </a:p>
        </p:txBody>
      </p:sp>
      <p:sp>
        <p:nvSpPr>
          <p:cNvPr id="11" name="problem card 3"/>
          <p:cNvSpPr/>
          <p:nvPr/>
        </p:nvSpPr>
        <p:spPr>
          <a:xfrm>
            <a:off x="6035040" y="1097280"/>
            <a:ext cx="2651760" cy="329184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problem card 3 accent"/>
          <p:cNvSpPr/>
          <p:nvPr/>
        </p:nvSpPr>
        <p:spPr>
          <a:xfrm>
            <a:off x="6035040" y="1097280"/>
            <a:ext cx="54864" cy="329184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13" name="Text 11"/>
          <p:cNvSpPr txBox="1"/>
          <p:nvPr/>
        </p:nvSpPr>
        <p:spPr>
          <a:xfrm>
            <a:off x="6217920" y="11887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Who is affected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691640"/>
            <a:ext cx="233172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Patients: extra treatment and expense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Doctors: hard to spot high risk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Hospitals: workload and cost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Families: more caregiving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Insurers: higher medical expense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title" idx="103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</a:rPr>
              <a:t>Motivation</a:t>
            </a:r>
            <a:endParaRPr lang="en-US" sz="2600" dirty="0"/>
          </a:p>
        </p:txBody>
      </p:sp>
      <p:sp>
        <p:nvSpPr>
          <p:cNvPr id="3" name="motivation card 1"/>
          <p:cNvSpPr/>
          <p:nvPr/>
        </p:nvSpPr>
        <p:spPr>
          <a:xfrm>
            <a:off x="457200" y="1143000"/>
            <a:ext cx="2651760" cy="29260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motivation badge 1"/>
          <p:cNvSpPr/>
          <p:nvPr/>
        </p:nvSpPr>
        <p:spPr>
          <a:xfrm>
            <a:off x="640080" y="1325880"/>
            <a:ext cx="365760" cy="36576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3258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Why this project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Use machine learning to predict readmissions, spot high-risk patients early and apply Elastic Net to real healthcare data.</a:t>
            </a:r>
            <a:endParaRPr lang="en-US" sz="1400" dirty="0"/>
          </a:p>
        </p:txBody>
      </p:sp>
      <p:sp>
        <p:nvSpPr>
          <p:cNvPr id="8" name="motivation card 2"/>
          <p:cNvSpPr/>
          <p:nvPr/>
        </p:nvSpPr>
        <p:spPr>
          <a:xfrm>
            <a:off x="3246120" y="1143000"/>
            <a:ext cx="2651760" cy="29260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motivation badge 2"/>
          <p:cNvSpPr/>
          <p:nvPr/>
        </p:nvSpPr>
        <p:spPr>
          <a:xfrm>
            <a:off x="3429000" y="1325880"/>
            <a:ext cx="365760" cy="36576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0" name="Text 8"/>
          <p:cNvSpPr txBox="1"/>
          <p:nvPr/>
        </p:nvSpPr>
        <p:spPr>
          <a:xfrm>
            <a:off x="3429000" y="13258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3258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Real-world need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Early risk identification lets doctors plan follow-up, monitor recovery, cut avoidable visits and manage resources better.</a:t>
            </a:r>
            <a:endParaRPr lang="en-US" sz="1400" dirty="0"/>
          </a:p>
        </p:txBody>
      </p:sp>
      <p:sp>
        <p:nvSpPr>
          <p:cNvPr id="13" name="motivation card 3"/>
          <p:cNvSpPr/>
          <p:nvPr/>
        </p:nvSpPr>
        <p:spPr>
          <a:xfrm>
            <a:off x="6035040" y="1143000"/>
            <a:ext cx="2651760" cy="29260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motivation badge 3"/>
          <p:cNvSpPr/>
          <p:nvPr/>
        </p:nvSpPr>
        <p:spPr>
          <a:xfrm>
            <a:off x="6217920" y="1325880"/>
            <a:ext cx="365760" cy="36576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5" name="Text 13"/>
          <p:cNvSpPr txBox="1"/>
          <p:nvPr/>
        </p:nvSpPr>
        <p:spPr>
          <a:xfrm>
            <a:off x="6217920" y="13258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13258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Research motivation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Healthcare analytics is growing. Elastic Net selects features and limits overfitting, showing how ML can support clinical decisions.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title" idx="103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Objectives</a:t>
            </a:r>
            <a:endParaRPr lang="en-US" sz="2600" dirty="0"/>
          </a:p>
        </p:txBody>
      </p:sp>
      <p:sp>
        <p:nvSpPr>
          <p:cNvPr id="3" name="main objective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solidFill>
            <a:schemeClr val="tx1"/>
          </a:solidFill>
        </p:spPr>
      </p:sp>
      <p:sp>
        <p:nvSpPr>
          <p:cNvPr id="4" name="Text 2"/>
          <p:cNvSpPr txBox="1"/>
          <p:nvPr/>
        </p:nvSpPr>
        <p:spPr>
          <a:xfrm>
            <a:off x="685800" y="105156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MAIN OBJECTIVE   </a:t>
            </a:r>
            <a:r>
              <a:rPr lang="en-US" sz="1350" dirty="0">
                <a:solidFill>
                  <a:schemeClr val="bg1"/>
                </a:solidFill>
              </a:rPr>
              <a:t>Build an Elastic Net Logistic Regression model that predicts hospital readmission risk and helps staff plan better follow-up care.</a:t>
            </a:r>
            <a:endParaRPr lang="en-US" sz="1100" dirty="0"/>
          </a:p>
        </p:txBody>
      </p:sp>
      <p:sp>
        <p:nvSpPr>
          <p:cNvPr id="5" name="objective card 1"/>
          <p:cNvSpPr/>
          <p:nvPr/>
        </p:nvSpPr>
        <p:spPr>
          <a:xfrm>
            <a:off x="457200" y="2194560"/>
            <a:ext cx="1554480" cy="23317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objective card 1 accent"/>
          <p:cNvSpPr/>
          <p:nvPr/>
        </p:nvSpPr>
        <p:spPr>
          <a:xfrm>
            <a:off x="457200" y="2194560"/>
            <a:ext cx="54864" cy="233172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7" name="objective badge 1"/>
          <p:cNvSpPr/>
          <p:nvPr/>
        </p:nvSpPr>
        <p:spPr>
          <a:xfrm>
            <a:off x="640080" y="2359152"/>
            <a:ext cx="365760" cy="365760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8" name="Text 6"/>
          <p:cNvSpPr txBox="1"/>
          <p:nvPr/>
        </p:nvSpPr>
        <p:spPr>
          <a:xfrm>
            <a:off x="640080" y="235915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834640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1"/>
                </a:solidFill>
              </a:rPr>
              <a:t>Data collection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383280"/>
            <a:ext cx="132588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2"/>
                </a:solidFill>
              </a:rPr>
              <a:t>Gather patient data; fix missing, duplicate and inconsistent values</a:t>
            </a:r>
            <a:endParaRPr lang="en-US" sz="1150" dirty="0"/>
          </a:p>
        </p:txBody>
      </p:sp>
      <p:sp>
        <p:nvSpPr>
          <p:cNvPr id="11" name="objective card 2"/>
          <p:cNvSpPr/>
          <p:nvPr/>
        </p:nvSpPr>
        <p:spPr>
          <a:xfrm>
            <a:off x="2125980" y="2194560"/>
            <a:ext cx="1554480" cy="23317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objective card 2 accent"/>
          <p:cNvSpPr/>
          <p:nvPr/>
        </p:nvSpPr>
        <p:spPr>
          <a:xfrm>
            <a:off x="2125980" y="2194560"/>
            <a:ext cx="54864" cy="233172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13" name="objective badge 2"/>
          <p:cNvSpPr/>
          <p:nvPr/>
        </p:nvSpPr>
        <p:spPr>
          <a:xfrm>
            <a:off x="2308860" y="2359152"/>
            <a:ext cx="365760" cy="365760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14" name="Text 12"/>
          <p:cNvSpPr txBox="1"/>
          <p:nvPr/>
        </p:nvSpPr>
        <p:spPr>
          <a:xfrm>
            <a:off x="2308860" y="235915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263140" y="2834640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1"/>
                </a:solidFill>
              </a:rPr>
              <a:t>Feature selection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263140" y="3383280"/>
            <a:ext cx="132588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2"/>
                </a:solidFill>
              </a:rPr>
              <a:t>Find the factors that drive readmission</a:t>
            </a:r>
            <a:endParaRPr lang="en-US" sz="1150" dirty="0"/>
          </a:p>
        </p:txBody>
      </p:sp>
      <p:sp>
        <p:nvSpPr>
          <p:cNvPr id="17" name="objective card 3"/>
          <p:cNvSpPr/>
          <p:nvPr/>
        </p:nvSpPr>
        <p:spPr>
          <a:xfrm>
            <a:off x="3794760" y="2194560"/>
            <a:ext cx="1554480" cy="23317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objective card 3 accent"/>
          <p:cNvSpPr/>
          <p:nvPr/>
        </p:nvSpPr>
        <p:spPr>
          <a:xfrm>
            <a:off x="3794760" y="2194560"/>
            <a:ext cx="54864" cy="233172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19" name="objective badge 3"/>
          <p:cNvSpPr/>
          <p:nvPr/>
        </p:nvSpPr>
        <p:spPr>
          <a:xfrm>
            <a:off x="3977640" y="2359152"/>
            <a:ext cx="365760" cy="365760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20" name="Text 18"/>
          <p:cNvSpPr txBox="1"/>
          <p:nvPr/>
        </p:nvSpPr>
        <p:spPr>
          <a:xfrm>
            <a:off x="3977640" y="235915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2834640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1"/>
                </a:solidFill>
              </a:rPr>
              <a:t>Model development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3383280"/>
            <a:ext cx="132588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2"/>
                </a:solidFill>
              </a:rPr>
              <a:t>Logistic Regression with Elastic Net regularization</a:t>
            </a:r>
            <a:endParaRPr lang="en-US" sz="1150" dirty="0"/>
          </a:p>
        </p:txBody>
      </p:sp>
      <p:sp>
        <p:nvSpPr>
          <p:cNvPr id="23" name="objective card 4"/>
          <p:cNvSpPr/>
          <p:nvPr/>
        </p:nvSpPr>
        <p:spPr>
          <a:xfrm>
            <a:off x="5463540" y="2194560"/>
            <a:ext cx="1554480" cy="23317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objective card 4 accent"/>
          <p:cNvSpPr/>
          <p:nvPr/>
        </p:nvSpPr>
        <p:spPr>
          <a:xfrm>
            <a:off x="5463540" y="2194560"/>
            <a:ext cx="54864" cy="233172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25" name="objective badge 4"/>
          <p:cNvSpPr/>
          <p:nvPr/>
        </p:nvSpPr>
        <p:spPr>
          <a:xfrm>
            <a:off x="5646420" y="2359152"/>
            <a:ext cx="365760" cy="365760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26" name="Text 24"/>
          <p:cNvSpPr txBox="1"/>
          <p:nvPr/>
        </p:nvSpPr>
        <p:spPr>
          <a:xfrm>
            <a:off x="5646420" y="235915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600700" y="2834640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1"/>
                </a:solidFill>
              </a:rPr>
              <a:t>Model evaluation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600700" y="3383280"/>
            <a:ext cx="132588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2"/>
                </a:solidFill>
              </a:rPr>
              <a:t>Accuracy, precision, recall, F1 and ROC-AUC</a:t>
            </a:r>
            <a:endParaRPr lang="en-US" sz="1150" dirty="0"/>
          </a:p>
        </p:txBody>
      </p:sp>
      <p:sp>
        <p:nvSpPr>
          <p:cNvPr id="29" name="objective card 5"/>
          <p:cNvSpPr/>
          <p:nvPr/>
        </p:nvSpPr>
        <p:spPr>
          <a:xfrm>
            <a:off x="7132320" y="2194560"/>
            <a:ext cx="1554480" cy="23317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objective card 5 accent"/>
          <p:cNvSpPr/>
          <p:nvPr/>
        </p:nvSpPr>
        <p:spPr>
          <a:xfrm>
            <a:off x="7132320" y="2194560"/>
            <a:ext cx="54864" cy="233172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31" name="objective badge 5"/>
          <p:cNvSpPr/>
          <p:nvPr/>
        </p:nvSpPr>
        <p:spPr>
          <a:xfrm>
            <a:off x="7315200" y="2359152"/>
            <a:ext cx="365760" cy="365760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32" name="Text 30"/>
          <p:cNvSpPr txBox="1"/>
          <p:nvPr/>
        </p:nvSpPr>
        <p:spPr>
          <a:xfrm>
            <a:off x="7315200" y="235915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269480" y="2834640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1"/>
                </a:solidFill>
              </a:rPr>
              <a:t>Healthcare planning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269480" y="3383280"/>
            <a:ext cx="132588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2"/>
                </a:solidFill>
              </a:rPr>
              <a:t>Use predictions to prioritise follow-up and treatment</a:t>
            </a:r>
            <a:endParaRPr lang="en-US" sz="11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title" idx="103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Existing system vs proposed system</a:t>
            </a:r>
            <a:endParaRPr lang="en-US" sz="2600" dirty="0"/>
          </a:p>
        </p:txBody>
      </p:sp>
      <p:sp>
        <p:nvSpPr>
          <p:cNvPr id="3" name="existing card"/>
          <p:cNvSpPr/>
          <p:nvPr/>
        </p:nvSpPr>
        <p:spPr>
          <a:xfrm>
            <a:off x="457200" y="1097280"/>
            <a:ext cx="4023360" cy="342900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existing card accent"/>
          <p:cNvSpPr/>
          <p:nvPr/>
        </p:nvSpPr>
        <p:spPr>
          <a:xfrm>
            <a:off x="457200" y="1097280"/>
            <a:ext cx="54864" cy="3429000"/>
          </a:xfrm>
          <a:prstGeom prst="rect">
            <a:avLst/>
          </a:prstGeom>
          <a:solidFill>
            <a:schemeClr val="accent3"/>
          </a:solidFill>
        </p:spPr>
      </p:sp>
      <p:sp>
        <p:nvSpPr>
          <p:cNvPr id="5" name="Text 3"/>
          <p:cNvSpPr txBox="1"/>
          <p:nvPr/>
        </p:nvSpPr>
        <p:spPr>
          <a:xfrm>
            <a:off x="685800" y="11887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Existing system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Relies on clinical assessment, medical history, EHR records and basic statistical models.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77440"/>
            <a:ext cx="356616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Limited accuracy on high-risk patients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Slow manual review of large data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Hard to find the key factors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Overfitting on new patients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Varies across hospitals</a:t>
            </a:r>
            <a:endParaRPr lang="en-US" sz="1300" dirty="0"/>
          </a:p>
        </p:txBody>
      </p:sp>
      <p:sp>
        <p:nvSpPr>
          <p:cNvPr id="8" name="arrow"/>
          <p:cNvSpPr/>
          <p:nvPr/>
        </p:nvSpPr>
        <p:spPr>
          <a:xfrm>
            <a:off x="4553712" y="2606040"/>
            <a:ext cx="457200" cy="411480"/>
          </a:xfrm>
          <a:prstGeom prst="rightArrow">
            <a:avLst/>
          </a:prstGeom>
          <a:solidFill>
            <a:schemeClr val="accent2"/>
          </a:solidFill>
        </p:spPr>
      </p:sp>
      <p:sp>
        <p:nvSpPr>
          <p:cNvPr id="9" name="proposed card"/>
          <p:cNvSpPr/>
          <p:nvPr/>
        </p:nvSpPr>
        <p:spPr>
          <a:xfrm>
            <a:off x="5029200" y="1097280"/>
            <a:ext cx="4023360" cy="3429000"/>
          </a:xfrm>
          <a:prstGeom prst="rect">
            <a:avLst/>
          </a:prstGeom>
          <a:solidFill>
            <a:schemeClr val="tx1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257800" y="11887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Proposed system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1645920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Elastic Net Logistic Regression on patient data (age, history, prior visits) predicts whether a patient will be readmitted.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2468880"/>
            <a:ext cx="356616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Learns patterns tied to readmission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Automates the analysis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L1 picks key features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L1 + L2 reduce overfitting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Risk scores guide follow-up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title" idx="103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System architecture</a:t>
            </a:r>
            <a:endParaRPr lang="en-US" sz="2600" dirty="0"/>
          </a:p>
        </p:txBody>
      </p:sp>
      <p:sp>
        <p:nvSpPr>
          <p:cNvPr id="3" name="diagram frame"/>
          <p:cNvSpPr/>
          <p:nvPr/>
        </p:nvSpPr>
        <p:spPr>
          <a:xfrm>
            <a:off x="457200" y="1005840"/>
            <a:ext cx="8229600" cy="265176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4" name="architecture diagram" descr="Four-stage architecture: Input, Processing, Model, Outpu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4475" y="1097280"/>
            <a:ext cx="5735050" cy="2468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794760"/>
            <a:ext cx="19202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Input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EHR records and a 30-day readmission label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2560320" y="3794760"/>
            <a:ext cx="19202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Processing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Clean, impute, encode, scale, split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3794760"/>
            <a:ext cx="19202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Model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L1 + L2 logistic regression, CV tuned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766560" y="3794760"/>
            <a:ext cx="19202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Output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Probability, risk class, key predictors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title" idx="103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Methodology and workflow</a:t>
            </a:r>
            <a:endParaRPr lang="en-US" sz="2600" dirty="0"/>
          </a:p>
        </p:txBody>
      </p:sp>
      <p:sp>
        <p:nvSpPr>
          <p:cNvPr id="3" name="workflow frame"/>
          <p:cNvSpPr/>
          <p:nvPr/>
        </p:nvSpPr>
        <p:spPr>
          <a:xfrm>
            <a:off x="457200" y="1005840"/>
            <a:ext cx="8229600" cy="30175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4" name="workflow diagram" descr="Eight-step workflow from data collection to interpreta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808" y="1097280"/>
            <a:ext cx="7726384" cy="2834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Imputation and scaling are fitted on the training set only to prevent leakage. Cross-validated AUC selects the mixing ratio and penalty strength.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title" idx="103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Technology stack</a:t>
            </a:r>
            <a:endParaRPr lang="en-US" sz="2600" dirty="0"/>
          </a:p>
        </p:txBody>
      </p:sp>
      <p:sp>
        <p:nvSpPr>
          <p:cNvPr id="3" name="stack label 1"/>
          <p:cNvSpPr/>
          <p:nvPr/>
        </p:nvSpPr>
        <p:spPr>
          <a:xfrm>
            <a:off x="457200" y="1097280"/>
            <a:ext cx="1920240" cy="54864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bg1"/>
                </a:solidFill>
              </a:rPr>
              <a:t>Languages</a:t>
            </a:r>
            <a:endParaRPr lang="en-US" sz="1350" dirty="0"/>
          </a:p>
        </p:txBody>
      </p:sp>
      <p:sp>
        <p:nvSpPr>
          <p:cNvPr id="5" name="stack value 1"/>
          <p:cNvSpPr/>
          <p:nvPr/>
        </p:nvSpPr>
        <p:spPr>
          <a:xfrm>
            <a:off x="2377440" y="1097280"/>
            <a:ext cx="6309360" cy="54864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60320" y="109728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Python 3.11, SQL, R (optional, glmnet check)</a:t>
            </a:r>
            <a:endParaRPr lang="en-US" sz="1300" dirty="0"/>
          </a:p>
        </p:txBody>
      </p:sp>
      <p:sp>
        <p:nvSpPr>
          <p:cNvPr id="7" name="stack label 2"/>
          <p:cNvSpPr/>
          <p:nvPr/>
        </p:nvSpPr>
        <p:spPr>
          <a:xfrm>
            <a:off x="457200" y="1709928"/>
            <a:ext cx="1920240" cy="54864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8" name="Text 6"/>
          <p:cNvSpPr txBox="1"/>
          <p:nvPr/>
        </p:nvSpPr>
        <p:spPr>
          <a:xfrm>
            <a:off x="594360" y="1709928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bg1"/>
                </a:solidFill>
              </a:rPr>
              <a:t>Frameworks</a:t>
            </a:r>
            <a:endParaRPr lang="en-US" sz="1350" dirty="0"/>
          </a:p>
        </p:txBody>
      </p:sp>
      <p:sp>
        <p:nvSpPr>
          <p:cNvPr id="9" name="stack value 2"/>
          <p:cNvSpPr/>
          <p:nvPr/>
        </p:nvSpPr>
        <p:spPr>
          <a:xfrm>
            <a:off x="2377440" y="1709928"/>
            <a:ext cx="6309360" cy="54864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1709928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scikit-learn (LogisticRegression, elasticnet, saga); Flask / FastAPI; Streamlit</a:t>
            </a:r>
            <a:endParaRPr lang="en-US" sz="1300" dirty="0"/>
          </a:p>
        </p:txBody>
      </p:sp>
      <p:sp>
        <p:nvSpPr>
          <p:cNvPr id="11" name="stack label 3"/>
          <p:cNvSpPr/>
          <p:nvPr/>
        </p:nvSpPr>
        <p:spPr>
          <a:xfrm>
            <a:off x="457200" y="2322576"/>
            <a:ext cx="1920240" cy="54864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12" name="Text 10"/>
          <p:cNvSpPr txBox="1"/>
          <p:nvPr/>
        </p:nvSpPr>
        <p:spPr>
          <a:xfrm>
            <a:off x="594360" y="2322576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bg1"/>
                </a:solidFill>
              </a:rPr>
              <a:t>Libraries</a:t>
            </a:r>
            <a:endParaRPr lang="en-US" sz="1350" dirty="0"/>
          </a:p>
        </p:txBody>
      </p:sp>
      <p:sp>
        <p:nvSpPr>
          <p:cNvPr id="13" name="stack value 3"/>
          <p:cNvSpPr/>
          <p:nvPr/>
        </p:nvSpPr>
        <p:spPr>
          <a:xfrm>
            <a:off x="2377440" y="2322576"/>
            <a:ext cx="6309360" cy="54864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60320" y="2322576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pandas, NumPy, imbalanced-learn, SHAP / statsmodels, matplotlib, seaborn, joblib</a:t>
            </a:r>
            <a:endParaRPr lang="en-US" sz="1300" dirty="0"/>
          </a:p>
        </p:txBody>
      </p:sp>
      <p:sp>
        <p:nvSpPr>
          <p:cNvPr id="15" name="stack label 4"/>
          <p:cNvSpPr/>
          <p:nvPr/>
        </p:nvSpPr>
        <p:spPr>
          <a:xfrm>
            <a:off x="457200" y="2935224"/>
            <a:ext cx="1920240" cy="54864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16" name="Text 14"/>
          <p:cNvSpPr txBox="1"/>
          <p:nvPr/>
        </p:nvSpPr>
        <p:spPr>
          <a:xfrm>
            <a:off x="594360" y="2935224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bg1"/>
                </a:solidFill>
              </a:rPr>
              <a:t>Data</a:t>
            </a:r>
            <a:endParaRPr lang="en-US" sz="1350" dirty="0"/>
          </a:p>
        </p:txBody>
      </p:sp>
      <p:sp>
        <p:nvSpPr>
          <p:cNvPr id="17" name="stack value 4"/>
          <p:cNvSpPr/>
          <p:nvPr/>
        </p:nvSpPr>
        <p:spPr>
          <a:xfrm>
            <a:off x="2377440" y="2935224"/>
            <a:ext cx="6309360" cy="54864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560320" y="2935224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PostgreSQL / SQLite; MIMIC-IV or UCI Diabetes 130-US hospitals</a:t>
            </a:r>
            <a:endParaRPr lang="en-US" sz="1300" dirty="0"/>
          </a:p>
        </p:txBody>
      </p:sp>
      <p:sp>
        <p:nvSpPr>
          <p:cNvPr id="19" name="stack label 5"/>
          <p:cNvSpPr/>
          <p:nvPr/>
        </p:nvSpPr>
        <p:spPr>
          <a:xfrm>
            <a:off x="457200" y="3547872"/>
            <a:ext cx="1920240" cy="54864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20" name="Text 18"/>
          <p:cNvSpPr txBox="1"/>
          <p:nvPr/>
        </p:nvSpPr>
        <p:spPr>
          <a:xfrm>
            <a:off x="594360" y="3547872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bg1"/>
                </a:solidFill>
              </a:rPr>
              <a:t>Dev tools</a:t>
            </a:r>
            <a:endParaRPr lang="en-US" sz="1350" dirty="0"/>
          </a:p>
        </p:txBody>
      </p:sp>
      <p:sp>
        <p:nvSpPr>
          <p:cNvPr id="21" name="stack value 5"/>
          <p:cNvSpPr/>
          <p:nvPr/>
        </p:nvSpPr>
        <p:spPr>
          <a:xfrm>
            <a:off x="2377440" y="3547872"/>
            <a:ext cx="6309360" cy="54864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560320" y="3547872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Jupyter / VS Code, Git and GitHub</a:t>
            </a:r>
            <a:endParaRPr lang="en-US" sz="1300" dirty="0"/>
          </a:p>
        </p:txBody>
      </p:sp>
      <p:sp>
        <p:nvSpPr>
          <p:cNvPr id="23" name="stack label 6"/>
          <p:cNvSpPr/>
          <p:nvPr/>
        </p:nvSpPr>
        <p:spPr>
          <a:xfrm>
            <a:off x="457200" y="4160520"/>
            <a:ext cx="1920240" cy="54864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24" name="Text 22"/>
          <p:cNvSpPr txBox="1"/>
          <p:nvPr/>
        </p:nvSpPr>
        <p:spPr>
          <a:xfrm>
            <a:off x="594360" y="416052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bg1"/>
                </a:solidFill>
              </a:rPr>
              <a:t>Hardware and cloud</a:t>
            </a:r>
            <a:endParaRPr lang="en-US" sz="1350" dirty="0"/>
          </a:p>
        </p:txBody>
      </p:sp>
      <p:sp>
        <p:nvSpPr>
          <p:cNvPr id="25" name="stack value 6"/>
          <p:cNvSpPr/>
          <p:nvPr/>
        </p:nvSpPr>
        <p:spPr>
          <a:xfrm>
            <a:off x="2377440" y="4160520"/>
            <a:ext cx="6309360" cy="54864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560320" y="416052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Standard laptop (8-16 GB, no GPU); Colab, SageMaker or Azure ML; Docker</a:t>
            </a:r>
            <a:endParaRPr lang="en-US" sz="13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title" idx="103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</a:rPr>
              <a:t>System modules</a:t>
            </a:r>
            <a:endParaRPr lang="en-US" sz="2600" dirty="0"/>
          </a:p>
        </p:txBody>
      </p:sp>
      <p:sp>
        <p:nvSpPr>
          <p:cNvPr id="3" name="module card 1"/>
          <p:cNvSpPr/>
          <p:nvPr/>
        </p:nvSpPr>
        <p:spPr>
          <a:xfrm>
            <a:off x="457200" y="1097280"/>
            <a:ext cx="1920240" cy="15544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module accent 1"/>
          <p:cNvSpPr/>
          <p:nvPr/>
        </p:nvSpPr>
        <p:spPr>
          <a:xfrm>
            <a:off x="457200" y="1097280"/>
            <a:ext cx="1920240" cy="54864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User interface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91640"/>
            <a:ext cx="164592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</a:rPr>
              <a:t>Enter or upload patient data, view risk scores</a:t>
            </a:r>
            <a:endParaRPr lang="en-US" sz="1250" dirty="0"/>
          </a:p>
        </p:txBody>
      </p:sp>
      <p:sp>
        <p:nvSpPr>
          <p:cNvPr id="7" name="module card 2"/>
          <p:cNvSpPr/>
          <p:nvPr/>
        </p:nvSpPr>
        <p:spPr>
          <a:xfrm>
            <a:off x="2560320" y="1097280"/>
            <a:ext cx="1920240" cy="15544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module accent 2"/>
          <p:cNvSpPr/>
          <p:nvPr/>
        </p:nvSpPr>
        <p:spPr>
          <a:xfrm>
            <a:off x="2560320" y="1097280"/>
            <a:ext cx="1920240" cy="54864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9" name="Text 7"/>
          <p:cNvSpPr txBox="1"/>
          <p:nvPr/>
        </p:nvSpPr>
        <p:spPr>
          <a:xfrm>
            <a:off x="2697480" y="12801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Data collection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1691640"/>
            <a:ext cx="164592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</a:rPr>
              <a:t>EHR or public dataset via SQL, CSV, FHIR</a:t>
            </a:r>
            <a:endParaRPr lang="en-US" sz="1250" dirty="0"/>
          </a:p>
        </p:txBody>
      </p:sp>
      <p:sp>
        <p:nvSpPr>
          <p:cNvPr id="11" name="module card 3"/>
          <p:cNvSpPr/>
          <p:nvPr/>
        </p:nvSpPr>
        <p:spPr>
          <a:xfrm>
            <a:off x="4663440" y="1097280"/>
            <a:ext cx="1920240" cy="15544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module accent 3"/>
          <p:cNvSpPr/>
          <p:nvPr/>
        </p:nvSpPr>
        <p:spPr>
          <a:xfrm>
            <a:off x="4663440" y="1097280"/>
            <a:ext cx="1920240" cy="54864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13" name="Text 11"/>
          <p:cNvSpPr txBox="1"/>
          <p:nvPr/>
        </p:nvSpPr>
        <p:spPr>
          <a:xfrm>
            <a:off x="4800600" y="12801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Preprocessing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691640"/>
            <a:ext cx="164592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</a:rPr>
              <a:t>Impute, encode, scale and split</a:t>
            </a:r>
            <a:endParaRPr lang="en-US" sz="1250" dirty="0"/>
          </a:p>
        </p:txBody>
      </p:sp>
      <p:sp>
        <p:nvSpPr>
          <p:cNvPr id="15" name="module card 4"/>
          <p:cNvSpPr/>
          <p:nvPr/>
        </p:nvSpPr>
        <p:spPr>
          <a:xfrm>
            <a:off x="6766560" y="1097280"/>
            <a:ext cx="1920240" cy="15544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module accent 4"/>
          <p:cNvSpPr/>
          <p:nvPr/>
        </p:nvSpPr>
        <p:spPr>
          <a:xfrm>
            <a:off x="6766560" y="1097280"/>
            <a:ext cx="1920240" cy="54864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17" name="Text 15"/>
          <p:cNvSpPr txBox="1"/>
          <p:nvPr/>
        </p:nvSpPr>
        <p:spPr>
          <a:xfrm>
            <a:off x="6903720" y="128016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Core ML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1691640"/>
            <a:ext cx="164592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</a:rPr>
              <a:t>Elastic Net LR with cross-validated tuning</a:t>
            </a:r>
            <a:endParaRPr lang="en-US" sz="1250" dirty="0"/>
          </a:p>
        </p:txBody>
      </p:sp>
      <p:sp>
        <p:nvSpPr>
          <p:cNvPr id="19" name="module card 5"/>
          <p:cNvSpPr/>
          <p:nvPr/>
        </p:nvSpPr>
        <p:spPr>
          <a:xfrm>
            <a:off x="457200" y="2834640"/>
            <a:ext cx="1920240" cy="15544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module accent 5"/>
          <p:cNvSpPr/>
          <p:nvPr/>
        </p:nvSpPr>
        <p:spPr>
          <a:xfrm>
            <a:off x="457200" y="2834640"/>
            <a:ext cx="1920240" cy="54864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21" name="Text 19"/>
          <p:cNvSpPr txBox="1"/>
          <p:nvPr/>
        </p:nvSpPr>
        <p:spPr>
          <a:xfrm>
            <a:off x="594360" y="30175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Prediction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429000"/>
            <a:ext cx="164592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</a:rPr>
              <a:t>30-day probability and risk threshold</a:t>
            </a:r>
            <a:endParaRPr lang="en-US" sz="1250" dirty="0"/>
          </a:p>
        </p:txBody>
      </p:sp>
      <p:sp>
        <p:nvSpPr>
          <p:cNvPr id="23" name="module card 6"/>
          <p:cNvSpPr/>
          <p:nvPr/>
        </p:nvSpPr>
        <p:spPr>
          <a:xfrm>
            <a:off x="2560320" y="2834640"/>
            <a:ext cx="1920240" cy="15544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4" name="module accent 6"/>
          <p:cNvSpPr/>
          <p:nvPr/>
        </p:nvSpPr>
        <p:spPr>
          <a:xfrm>
            <a:off x="2560320" y="2834640"/>
            <a:ext cx="1920240" cy="54864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25" name="Text 23"/>
          <p:cNvSpPr txBox="1"/>
          <p:nvPr/>
        </p:nvSpPr>
        <p:spPr>
          <a:xfrm>
            <a:off x="2697480" y="30175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Visualisation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697480" y="3429000"/>
            <a:ext cx="164592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</a:rPr>
              <a:t>ROC, calibration, odds-ratio charts</a:t>
            </a:r>
            <a:endParaRPr lang="en-US" sz="1250" dirty="0"/>
          </a:p>
        </p:txBody>
      </p:sp>
      <p:sp>
        <p:nvSpPr>
          <p:cNvPr id="27" name="module card 7"/>
          <p:cNvSpPr/>
          <p:nvPr/>
        </p:nvSpPr>
        <p:spPr>
          <a:xfrm>
            <a:off x="4663440" y="2834640"/>
            <a:ext cx="1920240" cy="15544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8" name="module accent 7"/>
          <p:cNvSpPr/>
          <p:nvPr/>
        </p:nvSpPr>
        <p:spPr>
          <a:xfrm>
            <a:off x="4663440" y="2834640"/>
            <a:ext cx="1920240" cy="54864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29" name="Text 27"/>
          <p:cNvSpPr txBox="1"/>
          <p:nvPr/>
        </p:nvSpPr>
        <p:spPr>
          <a:xfrm>
            <a:off x="4800600" y="30175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Database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800600" y="3429000"/>
            <a:ext cx="164592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</a:rPr>
              <a:t>Raw and clean data, model versions, logs</a:t>
            </a:r>
            <a:endParaRPr lang="en-US" sz="1250" dirty="0"/>
          </a:p>
        </p:txBody>
      </p:sp>
      <p:sp>
        <p:nvSpPr>
          <p:cNvPr id="31" name="module card 8"/>
          <p:cNvSpPr/>
          <p:nvPr/>
        </p:nvSpPr>
        <p:spPr>
          <a:xfrm>
            <a:off x="6766560" y="2834640"/>
            <a:ext cx="1920240" cy="15544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2" name="module accent 8"/>
          <p:cNvSpPr/>
          <p:nvPr/>
        </p:nvSpPr>
        <p:spPr>
          <a:xfrm>
            <a:off x="6766560" y="2834640"/>
            <a:ext cx="1920240" cy="54864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33" name="Text 31"/>
          <p:cNvSpPr txBox="1"/>
          <p:nvPr/>
        </p:nvSpPr>
        <p:spPr>
          <a:xfrm>
            <a:off x="6903720" y="301752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Security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903720" y="3429000"/>
            <a:ext cx="164592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</a:rPr>
              <a:t>Role-based access, encryption, audit logs</a:t>
            </a:r>
            <a:endParaRPr lang="en-US" sz="12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title" idx="103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Dataset</a:t>
            </a:r>
            <a:endParaRPr lang="en-US" sz="2600" dirty="0"/>
          </a:p>
        </p:txBody>
      </p:sp>
      <p:sp>
        <p:nvSpPr>
          <p:cNvPr id="3" name="stat card 1"/>
          <p:cNvSpPr/>
          <p:nvPr/>
        </p:nvSpPr>
        <p:spPr>
          <a:xfrm>
            <a:off x="457200" y="1051560"/>
            <a:ext cx="1920240" cy="1051560"/>
          </a:xfrm>
          <a:prstGeom prst="rect">
            <a:avLst/>
          </a:prstGeom>
          <a:solidFill>
            <a:schemeClr val="tx1"/>
          </a:solidFill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608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</a:rPr>
              <a:t>original records</a:t>
            </a:r>
            <a:endParaRPr lang="en-US" sz="1050" dirty="0"/>
          </a:p>
        </p:txBody>
      </p:sp>
      <p:sp>
        <p:nvSpPr>
          <p:cNvPr id="6" name="stat card 2"/>
          <p:cNvSpPr/>
          <p:nvPr/>
        </p:nvSpPr>
        <p:spPr>
          <a:xfrm>
            <a:off x="2560320" y="1051560"/>
            <a:ext cx="1920240" cy="105156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7" name="Text 5"/>
          <p:cNvSpPr txBox="1"/>
          <p:nvPr/>
        </p:nvSpPr>
        <p:spPr>
          <a:xfrm>
            <a:off x="2560320" y="109728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600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69164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</a:rPr>
              <a:t>after removing 8 duplicates</a:t>
            </a:r>
            <a:endParaRPr lang="en-US" sz="1050" dirty="0"/>
          </a:p>
        </p:txBody>
      </p:sp>
      <p:sp>
        <p:nvSpPr>
          <p:cNvPr id="9" name="stat card 3"/>
          <p:cNvSpPr/>
          <p:nvPr/>
        </p:nvSpPr>
        <p:spPr>
          <a:xfrm>
            <a:off x="4663440" y="1051560"/>
            <a:ext cx="1920240" cy="1051560"/>
          </a:xfrm>
          <a:prstGeom prst="rect">
            <a:avLst/>
          </a:prstGeom>
          <a:solidFill>
            <a:schemeClr val="tx1"/>
          </a:solidFill>
        </p:spPr>
      </p:sp>
      <p:sp>
        <p:nvSpPr>
          <p:cNvPr id="10" name="Text 8"/>
          <p:cNvSpPr txBox="1"/>
          <p:nvPr/>
        </p:nvSpPr>
        <p:spPr>
          <a:xfrm>
            <a:off x="4663440" y="109728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16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69164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</a:rPr>
              <a:t>columns</a:t>
            </a:r>
            <a:endParaRPr lang="en-US" sz="1050" dirty="0"/>
          </a:p>
        </p:txBody>
      </p:sp>
      <p:sp>
        <p:nvSpPr>
          <p:cNvPr id="12" name="stat card 4"/>
          <p:cNvSpPr/>
          <p:nvPr/>
        </p:nvSpPr>
        <p:spPr>
          <a:xfrm>
            <a:off x="6766560" y="1051560"/>
            <a:ext cx="1920240" cy="105156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13" name="Text 11"/>
          <p:cNvSpPr txBox="1"/>
          <p:nvPr/>
        </p:nvSpPr>
        <p:spPr>
          <a:xfrm>
            <a:off x="6766560" y="109728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</a:rPr>
              <a:t>333 / 267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169164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bg1"/>
                </a:solidFill>
              </a:rPr>
              <a:t>readmitted / not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28600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Hospital Readmission Dataset (Excel): demographics, admission details, medical history, clinical information and readmission status. Target: readmitted (1) or not (0). patient_id is excluded from training.</a:t>
            </a:r>
            <a:endParaRPr lang="en-US" sz="1200" dirty="0"/>
          </a:p>
        </p:txBody>
      </p:sp>
      <p:sp>
        <p:nvSpPr>
          <p:cNvPr id="16" name="feature card 1"/>
          <p:cNvSpPr/>
          <p:nvPr/>
        </p:nvSpPr>
        <p:spPr>
          <a:xfrm>
            <a:off x="457200" y="3017520"/>
            <a:ext cx="1554480" cy="150876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feature card 1 accent"/>
          <p:cNvSpPr/>
          <p:nvPr/>
        </p:nvSpPr>
        <p:spPr>
          <a:xfrm>
            <a:off x="457200" y="3017520"/>
            <a:ext cx="54864" cy="150876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18" name="Text 16"/>
          <p:cNvSpPr txBox="1"/>
          <p:nvPr/>
        </p:nvSpPr>
        <p:spPr>
          <a:xfrm>
            <a:off x="621792" y="3090672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Patient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3456432"/>
            <a:ext cx="1298448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Age, gender</a:t>
            </a:r>
            <a:endParaRPr lang="en-US" sz="1200" dirty="0"/>
          </a:p>
        </p:txBody>
      </p:sp>
      <p:sp>
        <p:nvSpPr>
          <p:cNvPr id="20" name="feature card 2"/>
          <p:cNvSpPr/>
          <p:nvPr/>
        </p:nvSpPr>
        <p:spPr>
          <a:xfrm>
            <a:off x="2125980" y="3017520"/>
            <a:ext cx="1554480" cy="150876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feature card 2 accent"/>
          <p:cNvSpPr/>
          <p:nvPr/>
        </p:nvSpPr>
        <p:spPr>
          <a:xfrm>
            <a:off x="2125980" y="3017520"/>
            <a:ext cx="54864" cy="150876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22" name="Text 20"/>
          <p:cNvSpPr txBox="1"/>
          <p:nvPr/>
        </p:nvSpPr>
        <p:spPr>
          <a:xfrm>
            <a:off x="2290572" y="3090672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Admission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290572" y="3456432"/>
            <a:ext cx="1298448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Type, diagnosis, length of stay, discharge disposition</a:t>
            </a:r>
            <a:endParaRPr lang="en-US" sz="1200" dirty="0"/>
          </a:p>
        </p:txBody>
      </p:sp>
      <p:sp>
        <p:nvSpPr>
          <p:cNvPr id="24" name="feature card 3"/>
          <p:cNvSpPr/>
          <p:nvPr/>
        </p:nvSpPr>
        <p:spPr>
          <a:xfrm>
            <a:off x="3794760" y="3017520"/>
            <a:ext cx="1554480" cy="150876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feature card 3 accent"/>
          <p:cNvSpPr/>
          <p:nvPr/>
        </p:nvSpPr>
        <p:spPr>
          <a:xfrm>
            <a:off x="3794760" y="3017520"/>
            <a:ext cx="54864" cy="150876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26" name="Text 24"/>
          <p:cNvSpPr txBox="1"/>
          <p:nvPr/>
        </p:nvSpPr>
        <p:spPr>
          <a:xfrm>
            <a:off x="3959352" y="3090672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History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3959352" y="3456432"/>
            <a:ext cx="1298448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Prior admissions, diabetes, hypertension, heart disease</a:t>
            </a:r>
            <a:endParaRPr lang="en-US" sz="1200" dirty="0"/>
          </a:p>
        </p:txBody>
      </p:sp>
      <p:sp>
        <p:nvSpPr>
          <p:cNvPr id="28" name="feature card 4"/>
          <p:cNvSpPr/>
          <p:nvPr/>
        </p:nvSpPr>
        <p:spPr>
          <a:xfrm>
            <a:off x="5463540" y="3017520"/>
            <a:ext cx="1554480" cy="150876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feature card 4 accent"/>
          <p:cNvSpPr/>
          <p:nvPr/>
        </p:nvSpPr>
        <p:spPr>
          <a:xfrm>
            <a:off x="5463540" y="3017520"/>
            <a:ext cx="54864" cy="150876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30" name="Text 28"/>
          <p:cNvSpPr txBox="1"/>
          <p:nvPr/>
        </p:nvSpPr>
        <p:spPr>
          <a:xfrm>
            <a:off x="5628132" y="3090672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Clinical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628132" y="3456432"/>
            <a:ext cx="1298448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Medications, lab procedures, diagnoses</a:t>
            </a:r>
            <a:endParaRPr lang="en-US" sz="1200" dirty="0"/>
          </a:p>
        </p:txBody>
      </p:sp>
      <p:sp>
        <p:nvSpPr>
          <p:cNvPr id="32" name="feature card 5"/>
          <p:cNvSpPr/>
          <p:nvPr/>
        </p:nvSpPr>
        <p:spPr>
          <a:xfrm>
            <a:off x="7132320" y="3017520"/>
            <a:ext cx="1554480" cy="150876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feature card 5 accent"/>
          <p:cNvSpPr/>
          <p:nvPr/>
        </p:nvSpPr>
        <p:spPr>
          <a:xfrm>
            <a:off x="7132320" y="3017520"/>
            <a:ext cx="54864" cy="150876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34" name="Text 32"/>
          <p:cNvSpPr txBox="1"/>
          <p:nvPr/>
        </p:nvSpPr>
        <p:spPr>
          <a:xfrm>
            <a:off x="7296912" y="3090672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Other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296912" y="3456432"/>
            <a:ext cx="1298448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Insurance type</a:t>
            </a:r>
            <a:endParaRPr lang="en-US" sz="12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title" idx="103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Data preprocessing</a:t>
            </a:r>
            <a:endParaRPr lang="en-US" sz="2600" dirty="0"/>
          </a:p>
        </p:txBody>
      </p:sp>
      <p:sp>
        <p:nvSpPr>
          <p:cNvPr id="3" name="preprocess card 1"/>
          <p:cNvSpPr/>
          <p:nvPr/>
        </p:nvSpPr>
        <p:spPr>
          <a:xfrm>
            <a:off x="457200" y="1097280"/>
            <a:ext cx="2651760" cy="160020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preprocess card 1 accent"/>
          <p:cNvSpPr/>
          <p:nvPr/>
        </p:nvSpPr>
        <p:spPr>
          <a:xfrm>
            <a:off x="457200" y="1097280"/>
            <a:ext cx="54864" cy="160020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5" name="preprocess badge 1"/>
          <p:cNvSpPr/>
          <p:nvPr/>
        </p:nvSpPr>
        <p:spPr>
          <a:xfrm>
            <a:off x="640080" y="1234440"/>
            <a:ext cx="365760" cy="365760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6" name="Text 4"/>
          <p:cNvSpPr txBox="1"/>
          <p:nvPr/>
        </p:nvSpPr>
        <p:spPr>
          <a:xfrm>
            <a:off x="640080" y="1234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2344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Remove duplicates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233172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8 duplicate rows dropped, leaving 600 records</a:t>
            </a:r>
            <a:endParaRPr lang="en-US" sz="1300" dirty="0"/>
          </a:p>
        </p:txBody>
      </p:sp>
      <p:sp>
        <p:nvSpPr>
          <p:cNvPr id="9" name="preprocess card 2"/>
          <p:cNvSpPr/>
          <p:nvPr/>
        </p:nvSpPr>
        <p:spPr>
          <a:xfrm>
            <a:off x="3246120" y="1097280"/>
            <a:ext cx="2651760" cy="160020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preprocess card 2 accent"/>
          <p:cNvSpPr/>
          <p:nvPr/>
        </p:nvSpPr>
        <p:spPr>
          <a:xfrm>
            <a:off x="3246120" y="1097280"/>
            <a:ext cx="54864" cy="160020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11" name="preprocess badge 2"/>
          <p:cNvSpPr/>
          <p:nvPr/>
        </p:nvSpPr>
        <p:spPr>
          <a:xfrm>
            <a:off x="3429000" y="1234440"/>
            <a:ext cx="365760" cy="365760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12" name="Text 10"/>
          <p:cNvSpPr txBox="1"/>
          <p:nvPr/>
        </p:nvSpPr>
        <p:spPr>
          <a:xfrm>
            <a:off x="3429000" y="1234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886200" y="12344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Handle missing values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737360"/>
            <a:ext cx="233172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Median for age and lab procedures; most frequent for gender</a:t>
            </a:r>
            <a:endParaRPr lang="en-US" sz="1300" dirty="0"/>
          </a:p>
        </p:txBody>
      </p:sp>
      <p:sp>
        <p:nvSpPr>
          <p:cNvPr id="15" name="preprocess card 3"/>
          <p:cNvSpPr/>
          <p:nvPr/>
        </p:nvSpPr>
        <p:spPr>
          <a:xfrm>
            <a:off x="6035040" y="1097280"/>
            <a:ext cx="2651760" cy="160020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preprocess card 3 accent"/>
          <p:cNvSpPr/>
          <p:nvPr/>
        </p:nvSpPr>
        <p:spPr>
          <a:xfrm>
            <a:off x="6035040" y="1097280"/>
            <a:ext cx="54864" cy="160020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17" name="preprocess badge 3"/>
          <p:cNvSpPr/>
          <p:nvPr/>
        </p:nvSpPr>
        <p:spPr>
          <a:xfrm>
            <a:off x="6217920" y="1234440"/>
            <a:ext cx="365760" cy="365760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18" name="Text 16"/>
          <p:cNvSpPr txBox="1"/>
          <p:nvPr/>
        </p:nvSpPr>
        <p:spPr>
          <a:xfrm>
            <a:off x="6217920" y="1234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12344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Encode categories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737360"/>
            <a:ext cx="233172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One-hot encoding for gender, diagnosis, admission type, discharge, insurance</a:t>
            </a:r>
            <a:endParaRPr lang="en-US" sz="1300" dirty="0"/>
          </a:p>
        </p:txBody>
      </p:sp>
      <p:sp>
        <p:nvSpPr>
          <p:cNvPr id="21" name="preprocess card 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preprocess card 4 accent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23" name="preprocess badge 4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24" name="Text 22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30175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Scale features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520440"/>
            <a:ext cx="233172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Standardise numeric features to a common range</a:t>
            </a:r>
            <a:endParaRPr lang="en-US" sz="1300" dirty="0"/>
          </a:p>
        </p:txBody>
      </p:sp>
      <p:sp>
        <p:nvSpPr>
          <p:cNvPr id="27" name="preprocess card 5"/>
          <p:cNvSpPr/>
          <p:nvPr/>
        </p:nvSpPr>
        <p:spPr>
          <a:xfrm>
            <a:off x="3246120" y="2880360"/>
            <a:ext cx="2651760" cy="160020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preprocess card 5 accent"/>
          <p:cNvSpPr/>
          <p:nvPr/>
        </p:nvSpPr>
        <p:spPr>
          <a:xfrm>
            <a:off x="3246120" y="2880360"/>
            <a:ext cx="54864" cy="160020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29" name="preprocess badge 5"/>
          <p:cNvSpPr/>
          <p:nvPr/>
        </p:nvSpPr>
        <p:spPr>
          <a:xfrm>
            <a:off x="3429000" y="3017520"/>
            <a:ext cx="365760" cy="365760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30" name="Text 28"/>
          <p:cNvSpPr txBox="1"/>
          <p:nvPr/>
        </p:nvSpPr>
        <p:spPr>
          <a:xfrm>
            <a:off x="3429000" y="30175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886200" y="30175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Split the data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429000" y="3520440"/>
            <a:ext cx="233172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Stratified 80/20: 480 training, 120 testing records</a:t>
            </a:r>
            <a:endParaRPr lang="en-US" sz="1300" dirty="0"/>
          </a:p>
        </p:txBody>
      </p:sp>
      <p:sp>
        <p:nvSpPr>
          <p:cNvPr id="33" name="preprocess card 6"/>
          <p:cNvSpPr/>
          <p:nvPr/>
        </p:nvSpPr>
        <p:spPr>
          <a:xfrm>
            <a:off x="6035040" y="2880360"/>
            <a:ext cx="2651760" cy="160020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preprocess card 6 accent"/>
          <p:cNvSpPr/>
          <p:nvPr/>
        </p:nvSpPr>
        <p:spPr>
          <a:xfrm>
            <a:off x="6035040" y="2880360"/>
            <a:ext cx="54864" cy="160020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35" name="preprocess badge 6"/>
          <p:cNvSpPr/>
          <p:nvPr/>
        </p:nvSpPr>
        <p:spPr>
          <a:xfrm>
            <a:off x="6217920" y="3017520"/>
            <a:ext cx="365760" cy="365760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36" name="Text 34"/>
          <p:cNvSpPr txBox="1"/>
          <p:nvPr/>
        </p:nvSpPr>
        <p:spPr>
          <a:xfrm>
            <a:off x="6217920" y="30175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675120" y="30175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Prevent leakage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217920" y="3520440"/>
            <a:ext cx="233172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Target and patient ID kept out of the inputs</a:t>
            </a:r>
            <a:endParaRPr lang="en-US" sz="13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title" idx="103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</a:rPr>
              <a:t>Algorithm: Elastic Net Logistic Regression</a:t>
            </a:r>
            <a:endParaRPr lang="en-US" sz="2600" dirty="0"/>
          </a:p>
        </p:txBody>
      </p:sp>
      <p:sp>
        <p:nvSpPr>
          <p:cNvPr id="3" name="flow box 1"/>
          <p:cNvSpPr/>
          <p:nvPr/>
        </p:nvSpPr>
        <p:spPr>
          <a:xfrm>
            <a:off x="457200" y="1097280"/>
            <a:ext cx="1261872" cy="68580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126187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Patient data</a:t>
            </a:r>
            <a:endParaRPr lang="en-US" sz="1100" dirty="0"/>
          </a:p>
        </p:txBody>
      </p:sp>
      <p:sp>
        <p:nvSpPr>
          <p:cNvPr id="5" name="flow box 2"/>
          <p:cNvSpPr/>
          <p:nvPr/>
        </p:nvSpPr>
        <p:spPr>
          <a:xfrm>
            <a:off x="1850746" y="1097280"/>
            <a:ext cx="1261872" cy="68580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50746" y="1097280"/>
            <a:ext cx="126187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Preprocess</a:t>
            </a:r>
            <a:endParaRPr lang="en-US" sz="1100" dirty="0"/>
          </a:p>
        </p:txBody>
      </p:sp>
      <p:sp>
        <p:nvSpPr>
          <p:cNvPr id="7" name="flow box 3"/>
          <p:cNvSpPr/>
          <p:nvPr/>
        </p:nvSpPr>
        <p:spPr>
          <a:xfrm>
            <a:off x="3244291" y="1097280"/>
            <a:ext cx="1261872" cy="68580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4291" y="1097280"/>
            <a:ext cx="126187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Encode + scale</a:t>
            </a:r>
            <a:endParaRPr lang="en-US" sz="1100" dirty="0"/>
          </a:p>
        </p:txBody>
      </p:sp>
      <p:sp>
        <p:nvSpPr>
          <p:cNvPr id="9" name="flow box 4"/>
          <p:cNvSpPr/>
          <p:nvPr/>
        </p:nvSpPr>
        <p:spPr>
          <a:xfrm>
            <a:off x="4637837" y="1097280"/>
            <a:ext cx="1261872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7837" y="1097280"/>
            <a:ext cx="126187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Elastic Net LR</a:t>
            </a:r>
            <a:endParaRPr lang="en-US" sz="1100" dirty="0"/>
          </a:p>
        </p:txBody>
      </p:sp>
      <p:sp>
        <p:nvSpPr>
          <p:cNvPr id="11" name="flow box 5"/>
          <p:cNvSpPr/>
          <p:nvPr/>
        </p:nvSpPr>
        <p:spPr>
          <a:xfrm>
            <a:off x="6031382" y="1097280"/>
            <a:ext cx="1261872" cy="68580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1382" y="1097280"/>
            <a:ext cx="126187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Probability</a:t>
            </a:r>
            <a:endParaRPr lang="en-US" sz="1100" dirty="0"/>
          </a:p>
        </p:txBody>
      </p:sp>
      <p:sp>
        <p:nvSpPr>
          <p:cNvPr id="13" name="flow box 6"/>
          <p:cNvSpPr/>
          <p:nvPr/>
        </p:nvSpPr>
        <p:spPr>
          <a:xfrm>
            <a:off x="7424928" y="1097280"/>
            <a:ext cx="1261872" cy="68580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24928" y="1097280"/>
            <a:ext cx="126187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Predicted class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01168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Why it fits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377440"/>
            <a:ext cx="393192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Built for two outcomes: readmitted or not</a:t>
            </a:r>
            <a:endParaRPr lang="en-US" sz="13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L1 shrinks weak features; L2 handles correlated ones</a:t>
            </a:r>
            <a:endParaRPr lang="en-US" sz="13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Regularization limits overfitting on a small dataset</a:t>
            </a:r>
            <a:endParaRPr lang="en-US" sz="13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Interpretable, with a probability for each patient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01168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Parameters (preliminary run)</a:t>
            </a:r>
            <a:endParaRPr lang="en-US" sz="1400" dirty="0"/>
          </a:p>
        </p:txBody>
      </p:sp>
      <p:sp>
        <p:nvSpPr>
          <p:cNvPr id="18" name="param row 1"/>
          <p:cNvSpPr/>
          <p:nvPr/>
        </p:nvSpPr>
        <p:spPr>
          <a:xfrm>
            <a:off x="4754880" y="2377440"/>
            <a:ext cx="3931920" cy="274320"/>
          </a:xfrm>
          <a:prstGeom prst="rect">
            <a:avLst/>
          </a:prstGeom>
          <a:solidFill>
            <a:schemeClr val="tx2"/>
          </a:solidFill>
        </p:spPr>
      </p:sp>
      <p:sp>
        <p:nvSpPr>
          <p:cNvPr id="19" name="Text 17"/>
          <p:cNvSpPr txBox="1"/>
          <p:nvPr/>
        </p:nvSpPr>
        <p:spPr>
          <a:xfrm>
            <a:off x="4892040" y="23774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Penalty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23774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chemeClr val="bg1"/>
                </a:solidFill>
              </a:rPr>
              <a:t>Elastic Net</a:t>
            </a:r>
            <a:endParaRPr lang="en-US" sz="1100" dirty="0"/>
          </a:p>
        </p:txBody>
      </p:sp>
      <p:sp>
        <p:nvSpPr>
          <p:cNvPr id="21" name="param row 2"/>
          <p:cNvSpPr/>
          <p:nvPr/>
        </p:nvSpPr>
        <p:spPr>
          <a:xfrm>
            <a:off x="4754880" y="2688336"/>
            <a:ext cx="3931920" cy="274320"/>
          </a:xfrm>
          <a:prstGeom prst="rect">
            <a:avLst/>
          </a:prstGeom>
          <a:solidFill>
            <a:schemeClr val="tx1"/>
          </a:solidFill>
        </p:spPr>
      </p:sp>
      <p:sp>
        <p:nvSpPr>
          <p:cNvPr id="22" name="Text 20"/>
          <p:cNvSpPr txBox="1"/>
          <p:nvPr/>
        </p:nvSpPr>
        <p:spPr>
          <a:xfrm>
            <a:off x="4892040" y="268833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Solver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268833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chemeClr val="bg1"/>
                </a:solidFill>
              </a:rPr>
              <a:t>SAGA</a:t>
            </a:r>
            <a:endParaRPr lang="en-US" sz="1100" dirty="0"/>
          </a:p>
        </p:txBody>
      </p:sp>
      <p:sp>
        <p:nvSpPr>
          <p:cNvPr id="24" name="param row 3"/>
          <p:cNvSpPr/>
          <p:nvPr/>
        </p:nvSpPr>
        <p:spPr>
          <a:xfrm>
            <a:off x="4754880" y="2999232"/>
            <a:ext cx="3931920" cy="274320"/>
          </a:xfrm>
          <a:prstGeom prst="rect">
            <a:avLst/>
          </a:prstGeom>
          <a:solidFill>
            <a:schemeClr val="tx2"/>
          </a:solidFill>
        </p:spPr>
      </p:sp>
      <p:sp>
        <p:nvSpPr>
          <p:cNvPr id="25" name="Text 23"/>
          <p:cNvSpPr txBox="1"/>
          <p:nvPr/>
        </p:nvSpPr>
        <p:spPr>
          <a:xfrm>
            <a:off x="4892040" y="299923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C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299923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chemeClr val="bg1"/>
                </a:solidFill>
              </a:rPr>
              <a:t>1.0</a:t>
            </a:r>
            <a:endParaRPr lang="en-US" sz="1100" dirty="0"/>
          </a:p>
        </p:txBody>
      </p:sp>
      <p:sp>
        <p:nvSpPr>
          <p:cNvPr id="27" name="param row 4"/>
          <p:cNvSpPr/>
          <p:nvPr/>
        </p:nvSpPr>
        <p:spPr>
          <a:xfrm>
            <a:off x="4754880" y="3310128"/>
            <a:ext cx="3931920" cy="274320"/>
          </a:xfrm>
          <a:prstGeom prst="rect">
            <a:avLst/>
          </a:prstGeom>
          <a:solidFill>
            <a:schemeClr val="tx1"/>
          </a:solidFill>
        </p:spPr>
      </p:sp>
      <p:sp>
        <p:nvSpPr>
          <p:cNvPr id="28" name="Text 26"/>
          <p:cNvSpPr txBox="1"/>
          <p:nvPr/>
        </p:nvSpPr>
        <p:spPr>
          <a:xfrm>
            <a:off x="4892040" y="331012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l1_ratio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331012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chemeClr val="bg1"/>
                </a:solidFill>
              </a:rPr>
              <a:t>0.5</a:t>
            </a:r>
            <a:endParaRPr lang="en-US" sz="1100" dirty="0"/>
          </a:p>
        </p:txBody>
      </p:sp>
      <p:sp>
        <p:nvSpPr>
          <p:cNvPr id="30" name="param row 5"/>
          <p:cNvSpPr/>
          <p:nvPr/>
        </p:nvSpPr>
        <p:spPr>
          <a:xfrm>
            <a:off x="4754880" y="3621024"/>
            <a:ext cx="3931920" cy="274320"/>
          </a:xfrm>
          <a:prstGeom prst="rect">
            <a:avLst/>
          </a:prstGeom>
          <a:solidFill>
            <a:schemeClr val="tx2"/>
          </a:solidFill>
        </p:spPr>
      </p:sp>
      <p:sp>
        <p:nvSpPr>
          <p:cNvPr id="31" name="Text 29"/>
          <p:cNvSpPr txBox="1"/>
          <p:nvPr/>
        </p:nvSpPr>
        <p:spPr>
          <a:xfrm>
            <a:off x="4892040" y="362102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Max iterations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362102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chemeClr val="bg1"/>
                </a:solidFill>
              </a:rPr>
              <a:t>5000</a:t>
            </a:r>
            <a:endParaRPr lang="en-US" sz="1100" dirty="0"/>
          </a:p>
        </p:txBody>
      </p:sp>
      <p:sp>
        <p:nvSpPr>
          <p:cNvPr id="33" name="param row 6"/>
          <p:cNvSpPr/>
          <p:nvPr/>
        </p:nvSpPr>
        <p:spPr>
          <a:xfrm>
            <a:off x="4754880" y="3931920"/>
            <a:ext cx="3931920" cy="274320"/>
          </a:xfrm>
          <a:prstGeom prst="rect">
            <a:avLst/>
          </a:prstGeom>
          <a:solidFill>
            <a:schemeClr val="tx1"/>
          </a:solidFill>
        </p:spPr>
      </p:sp>
      <p:sp>
        <p:nvSpPr>
          <p:cNvPr id="34" name="Text 32"/>
          <p:cNvSpPr txBox="1"/>
          <p:nvPr/>
        </p:nvSpPr>
        <p:spPr>
          <a:xfrm>
            <a:off x="4892040" y="39319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Threshold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766560" y="39319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chemeClr val="bg1"/>
                </a:solidFill>
              </a:rPr>
              <a:t>0.5</a:t>
            </a:r>
            <a:endParaRPr lang="en-US" sz="1100" dirty="0"/>
          </a:p>
        </p:txBody>
      </p:sp>
      <p:sp>
        <p:nvSpPr>
          <p:cNvPr id="36" name="param row 7"/>
          <p:cNvSpPr/>
          <p:nvPr/>
        </p:nvSpPr>
        <p:spPr>
          <a:xfrm>
            <a:off x="4754880" y="4242816"/>
            <a:ext cx="3931920" cy="274320"/>
          </a:xfrm>
          <a:prstGeom prst="rect">
            <a:avLst/>
          </a:prstGeom>
          <a:solidFill>
            <a:schemeClr val="tx2"/>
          </a:solidFill>
        </p:spPr>
      </p:sp>
      <p:sp>
        <p:nvSpPr>
          <p:cNvPr id="37" name="Text 35"/>
          <p:cNvSpPr txBox="1"/>
          <p:nvPr/>
        </p:nvSpPr>
        <p:spPr>
          <a:xfrm>
            <a:off x="4892040" y="4242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Random state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766560" y="4242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chemeClr val="bg1"/>
                </a:solidFill>
              </a:rPr>
              <a:t>42</a:t>
            </a:r>
            <a:endParaRPr lang="en-US" sz="11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title" idx="103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Results: model performance</a:t>
            </a:r>
            <a:endParaRPr lang="en-US" sz="2600" dirty="0"/>
          </a:p>
        </p:txBody>
      </p:sp>
      <p:sp>
        <p:nvSpPr>
          <p:cNvPr id="3" name="chart frame"/>
          <p:cNvSpPr/>
          <p:nvPr/>
        </p:nvSpPr>
        <p:spPr>
          <a:xfrm>
            <a:off x="457200" y="1051560"/>
            <a:ext cx="4754880" cy="34747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548640" y="1143000"/>
          <a:ext cx="45720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0" y="10515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Confusion matrix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989320" y="141732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accent5"/>
                </a:solidFill>
              </a:rPr>
              <a:t>Predicted: No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7360920" y="141732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accent5"/>
                </a:solidFill>
              </a:rPr>
              <a:t>Predicted: Yes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691640"/>
            <a:ext cx="457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chemeClr val="accent5"/>
                </a:solidFill>
              </a:rPr>
              <a:t>Actual: No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486400" y="2560320"/>
            <a:ext cx="457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chemeClr val="accent5"/>
                </a:solidFill>
              </a:rPr>
              <a:t>Actual: Yes</a:t>
            </a:r>
            <a:endParaRPr lang="en-US" sz="950" dirty="0"/>
          </a:p>
        </p:txBody>
      </p:sp>
      <p:sp>
        <p:nvSpPr>
          <p:cNvPr id="10" name="cm cell 1"/>
          <p:cNvSpPr/>
          <p:nvPr/>
        </p:nvSpPr>
        <p:spPr>
          <a:xfrm>
            <a:off x="5989320" y="1691640"/>
            <a:ext cx="1280160" cy="77724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11" name="Text 8"/>
          <p:cNvSpPr txBox="1"/>
          <p:nvPr/>
        </p:nvSpPr>
        <p:spPr>
          <a:xfrm>
            <a:off x="5989320" y="1691640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41</a:t>
            </a:r>
            <a:endParaRPr lang="en-US" sz="2200" dirty="0"/>
          </a:p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</a:rPr>
              <a:t>True negative</a:t>
            </a:r>
            <a:endParaRPr lang="en-US" sz="2200" dirty="0"/>
          </a:p>
        </p:txBody>
      </p:sp>
      <p:sp>
        <p:nvSpPr>
          <p:cNvPr id="12" name="cm cell 2"/>
          <p:cNvSpPr/>
          <p:nvPr/>
        </p:nvSpPr>
        <p:spPr>
          <a:xfrm>
            <a:off x="7360920" y="1691640"/>
            <a:ext cx="1280160" cy="777240"/>
          </a:xfrm>
          <a:prstGeom prst="rect">
            <a:avLst/>
          </a:prstGeom>
          <a:solidFill>
            <a:schemeClr val="accent6"/>
          </a:solidFill>
        </p:spPr>
      </p:sp>
      <p:sp>
        <p:nvSpPr>
          <p:cNvPr id="13" name="Text 10"/>
          <p:cNvSpPr txBox="1"/>
          <p:nvPr/>
        </p:nvSpPr>
        <p:spPr>
          <a:xfrm>
            <a:off x="7360920" y="1691640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13</a:t>
            </a:r>
            <a:endParaRPr lang="en-US" sz="2200" dirty="0"/>
          </a:p>
          <a:p>
            <a:pPr marL="0" indent="0" algn="ctr">
              <a:buNone/>
            </a:pPr>
            <a:r>
              <a:rPr lang="en-US" sz="950" dirty="0">
                <a:solidFill>
                  <a:schemeClr val="tx1"/>
                </a:solidFill>
              </a:rPr>
              <a:t>False positive</a:t>
            </a:r>
            <a:endParaRPr lang="en-US" sz="2200" dirty="0"/>
          </a:p>
        </p:txBody>
      </p:sp>
      <p:sp>
        <p:nvSpPr>
          <p:cNvPr id="14" name="cm cell 3"/>
          <p:cNvSpPr/>
          <p:nvPr/>
        </p:nvSpPr>
        <p:spPr>
          <a:xfrm>
            <a:off x="5989320" y="2560320"/>
            <a:ext cx="1280160" cy="777240"/>
          </a:xfrm>
          <a:prstGeom prst="rect">
            <a:avLst/>
          </a:prstGeom>
          <a:solidFill>
            <a:schemeClr val="accent6"/>
          </a:solidFill>
        </p:spPr>
      </p:sp>
      <p:sp>
        <p:nvSpPr>
          <p:cNvPr id="15" name="Text 12"/>
          <p:cNvSpPr txBox="1"/>
          <p:nvPr/>
        </p:nvSpPr>
        <p:spPr>
          <a:xfrm>
            <a:off x="5989320" y="2560320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10</a:t>
            </a:r>
            <a:endParaRPr lang="en-US" sz="2200" dirty="0"/>
          </a:p>
          <a:p>
            <a:pPr marL="0" indent="0" algn="ctr">
              <a:buNone/>
            </a:pPr>
            <a:r>
              <a:rPr lang="en-US" sz="950" dirty="0">
                <a:solidFill>
                  <a:schemeClr val="tx1"/>
                </a:solidFill>
              </a:rPr>
              <a:t>False negative</a:t>
            </a:r>
            <a:endParaRPr lang="en-US" sz="2200" dirty="0"/>
          </a:p>
        </p:txBody>
      </p:sp>
      <p:sp>
        <p:nvSpPr>
          <p:cNvPr id="16" name="cm cell 4"/>
          <p:cNvSpPr/>
          <p:nvPr/>
        </p:nvSpPr>
        <p:spPr>
          <a:xfrm>
            <a:off x="7360920" y="2560320"/>
            <a:ext cx="1280160" cy="77724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17" name="Text 14"/>
          <p:cNvSpPr txBox="1"/>
          <p:nvPr/>
        </p:nvSpPr>
        <p:spPr>
          <a:xfrm>
            <a:off x="7360920" y="2560320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56</a:t>
            </a:r>
            <a:endParaRPr lang="en-US" sz="2200" dirty="0"/>
          </a:p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</a:rPr>
              <a:t>True positive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0" y="3520440"/>
            <a:ext cx="32004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Recall of about 85% means most real readmissions were caught. Preliminary result from a single 80/20 split, not clinical proof.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title" idx="103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Demo: home page and patient input</a:t>
            </a:r>
            <a:endParaRPr lang="en-US" sz="2600" dirty="0"/>
          </a:p>
        </p:txBody>
      </p:sp>
      <p:pic>
        <p:nvPicPr>
          <p:cNvPr id="3" name="home screenshot" descr="Home page: See the ris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956089" cy="2377440"/>
          </a:xfrm>
          <a:prstGeom prst="rect">
            <a:avLst/>
          </a:prstGeom>
        </p:spPr>
      </p:pic>
      <p:pic>
        <p:nvPicPr>
          <p:cNvPr id="4" name="input screenshot" descr="Patient information input for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609" y="1097280"/>
            <a:ext cx="3220617" cy="23774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566160"/>
            <a:ext cx="4956089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Home page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5687609" y="3566160"/>
            <a:ext cx="3220617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Input screen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Users enter patient details such as age, diagnosis, hospital stay, prior admissions and medications to request an assessment.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title" idx="103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Demo: processing and risk result</a:t>
            </a:r>
            <a:endParaRPr lang="en-US" sz="2600" dirty="0"/>
          </a:p>
        </p:txBody>
      </p:sp>
      <p:pic>
        <p:nvPicPr>
          <p:cNvPr id="3" name="processing screenshot" descr="Processing scree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450202" cy="2377440"/>
          </a:xfrm>
          <a:prstGeom prst="rect">
            <a:avLst/>
          </a:prstGeom>
        </p:spPr>
      </p:pic>
      <p:pic>
        <p:nvPicPr>
          <p:cNvPr id="4" name="result screenshot" descr="Assessment result showing 87% high estimated ris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722" y="1097280"/>
            <a:ext cx="2235058" cy="23774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566160"/>
            <a:ext cx="545020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Processing screen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6181722" y="3566160"/>
            <a:ext cx="223505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Result screen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The result shows an estimated risk percentage, the factors contributing to it and suggested points for clinician review.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title" idx="103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Advantages and applications</a:t>
            </a:r>
            <a:endParaRPr lang="en-US" sz="2600" dirty="0"/>
          </a:p>
        </p:txBody>
      </p:sp>
      <p:sp>
        <p:nvSpPr>
          <p:cNvPr id="3" name="advantages card"/>
          <p:cNvSpPr/>
          <p:nvPr/>
        </p:nvSpPr>
        <p:spPr>
          <a:xfrm>
            <a:off x="457200" y="1097280"/>
            <a:ext cx="4023360" cy="310896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advantages card accent"/>
          <p:cNvSpPr/>
          <p:nvPr/>
        </p:nvSpPr>
        <p:spPr>
          <a:xfrm>
            <a:off x="457200" y="1097280"/>
            <a:ext cx="54864" cy="310896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5" name="Text 3"/>
          <p:cNvSpPr txBox="1"/>
          <p:nvPr/>
        </p:nvSpPr>
        <p:spPr>
          <a:xfrm>
            <a:off x="685800" y="11887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Advantages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356616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Early identification of at-risk patients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Better follow-up and discharge planning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Less manual analysis effort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Elastic Net controls irrelevant and correlated features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Interpretable, consistent predictions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Supports hospital resource planning</a:t>
            </a:r>
            <a:endParaRPr lang="en-US" sz="1300" dirty="0"/>
          </a:p>
        </p:txBody>
      </p:sp>
      <p:sp>
        <p:nvSpPr>
          <p:cNvPr id="7" name="applications card"/>
          <p:cNvSpPr/>
          <p:nvPr/>
        </p:nvSpPr>
        <p:spPr>
          <a:xfrm>
            <a:off x="4663440" y="1097280"/>
            <a:ext cx="4023360" cy="310896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applications card accent"/>
          <p:cNvSpPr/>
          <p:nvPr/>
        </p:nvSpPr>
        <p:spPr>
          <a:xfrm>
            <a:off x="4663440" y="1097280"/>
            <a:ext cx="54864" cy="3108960"/>
          </a:xfrm>
          <a:prstGeom prst="rect">
            <a:avLst/>
          </a:prstGeom>
          <a:solidFill>
            <a:schemeClr val="accent4"/>
          </a:solidFill>
        </p:spPr>
      </p:sp>
      <p:sp>
        <p:nvSpPr>
          <p:cNvPr id="9" name="Text 7"/>
          <p:cNvSpPr txBox="1"/>
          <p:nvPr/>
        </p:nvSpPr>
        <p:spPr>
          <a:xfrm>
            <a:off x="4892040" y="11887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Applications and users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691640"/>
            <a:ext cx="356616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Hospitals and clinics: discharge planning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Doctors: follow-up and monitoring decisions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Administrators: beds, staff and resources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Insurers: readmission and cost trends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Researchers: better prediction models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Meant to support, not replace, clinical judgment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title" idx="103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Limitations and future scope</a:t>
            </a:r>
            <a:endParaRPr lang="en-US" sz="2600" dirty="0"/>
          </a:p>
        </p:txBody>
      </p:sp>
      <p:sp>
        <p:nvSpPr>
          <p:cNvPr id="3" name="limitations card"/>
          <p:cNvSpPr/>
          <p:nvPr/>
        </p:nvSpPr>
        <p:spPr>
          <a:xfrm>
            <a:off x="457200" y="1097280"/>
            <a:ext cx="4023360" cy="310896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6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limitations card accent"/>
          <p:cNvSpPr/>
          <p:nvPr/>
        </p:nvSpPr>
        <p:spPr>
          <a:xfrm>
            <a:off x="457200" y="1097280"/>
            <a:ext cx="54864" cy="3108960"/>
          </a:xfrm>
          <a:prstGeom prst="rect">
            <a:avLst/>
          </a:prstGeom>
          <a:solidFill>
            <a:schemeClr val="accent3"/>
          </a:solidFill>
        </p:spPr>
      </p:sp>
      <p:sp>
        <p:nvSpPr>
          <p:cNvPr id="5" name="Text 3"/>
          <p:cNvSpPr txBox="1"/>
          <p:nvPr/>
        </p:nvSpPr>
        <p:spPr>
          <a:xfrm>
            <a:off x="685800" y="11887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Limitations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356616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Prediction errors are possible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May not generalise across hospitals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Small dataset (600 records) and class imbalance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Missing data and some clinical factors not captured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Patient data privacy must be protected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comparison with other models yet</a:t>
            </a:r>
            <a:endParaRPr lang="en-US" sz="1300" dirty="0"/>
          </a:p>
        </p:txBody>
      </p:sp>
      <p:sp>
        <p:nvSpPr>
          <p:cNvPr id="7" name="future card"/>
          <p:cNvSpPr/>
          <p:nvPr/>
        </p:nvSpPr>
        <p:spPr>
          <a:xfrm>
            <a:off x="4663440" y="1097280"/>
            <a:ext cx="4023360" cy="3108960"/>
          </a:xfrm>
          <a:prstGeom prst="rect">
            <a:avLst/>
          </a:prstGeom>
          <a:solidFill>
            <a:schemeClr val="tx1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92040" y="11887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Future scope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691640"/>
            <a:ext cx="356616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Larger, more diverse patient datasets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Compare with standard LR and Decision Tree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Cross-validation and parameter tuning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Add medication, visit history and lifestyle factors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Connect the web UI to a live prediction API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Integrate with hospital systems at scale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type="title" idx="103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</a:rPr>
              <a:t>Conclusion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</a:rPr>
              <a:t>Elastic Net Logistic Regression gives a simple, interpretable way to estimate hospital readmission risk.</a:t>
            </a:r>
            <a:endParaRPr lang="en-US" sz="1800" dirty="0"/>
          </a:p>
        </p:txBody>
      </p:sp>
      <p:sp>
        <p:nvSpPr>
          <p:cNvPr id="4" name="result stat 1"/>
          <p:cNvSpPr/>
          <p:nvPr/>
        </p:nvSpPr>
        <p:spPr>
          <a:xfrm>
            <a:off x="457200" y="2103120"/>
            <a:ext cx="2651760" cy="118872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148840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</a:rPr>
              <a:t>81%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83464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bg1"/>
                </a:solidFill>
              </a:rPr>
              <a:t>accuracy on the test split</a:t>
            </a:r>
            <a:endParaRPr lang="en-US" sz="1150" dirty="0"/>
          </a:p>
        </p:txBody>
      </p:sp>
      <p:sp>
        <p:nvSpPr>
          <p:cNvPr id="7" name="result stat 2"/>
          <p:cNvSpPr/>
          <p:nvPr/>
        </p:nvSpPr>
        <p:spPr>
          <a:xfrm>
            <a:off x="3246120" y="2103120"/>
            <a:ext cx="2651760" cy="118872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2148840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</a:rPr>
              <a:t>85%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283464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bg1"/>
                </a:solidFill>
              </a:rPr>
              <a:t>recall: most readmissions caught</a:t>
            </a:r>
            <a:endParaRPr lang="en-US" sz="1150" dirty="0"/>
          </a:p>
        </p:txBody>
      </p:sp>
      <p:sp>
        <p:nvSpPr>
          <p:cNvPr id="10" name="result stat 3"/>
          <p:cNvSpPr/>
          <p:nvPr/>
        </p:nvSpPr>
        <p:spPr>
          <a:xfrm>
            <a:off x="6035040" y="2103120"/>
            <a:ext cx="2651760" cy="118872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2148840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0.89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83464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bg1"/>
                </a:solidFill>
              </a:rPr>
              <a:t>ROC-AUC (88.69%)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52044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</a:rPr>
              <a:t>The web interface lets users enter patient details, see estimated risk and contributing factors, and import or export CSV records. Next steps: connect a trained model, a secure database and real clinical data.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 bar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3" name="Text 1"/>
          <p:cNvSpPr txBox="1"/>
          <p:nvPr/>
        </p:nvSpPr>
        <p:spPr>
          <a:xfrm>
            <a:off x="731520" y="155448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02336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S. Vennela  |  Krishna Sree  |  Team 23, Section 13  |  Guide: Mrs. Ch. Anitha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inicalMint">
  <a:themeElements>
    <a:clrScheme name="ClinicalMint">
      <a:dk1>
        <a:srgbClr val="041412"/>
      </a:dk1>
      <a:lt1>
        <a:srgbClr val="FFFFFF"/>
      </a:lt1>
      <a:dk2>
        <a:srgbClr val="0B2B26"/>
      </a:dk2>
      <a:lt2>
        <a:srgbClr val="EEF6F3"/>
      </a:lt2>
      <a:accent1>
        <a:srgbClr val="5FE0C0"/>
      </a:accent1>
      <a:accent2>
        <a:srgbClr val="1A8F78"/>
      </a:accent2>
      <a:accent3>
        <a:srgbClr val="C9503F"/>
      </a:accent3>
      <a:accent4>
        <a:srgbClr val="E8B04A"/>
      </a:accent4>
      <a:accent5>
        <a:srgbClr val="4F766C"/>
      </a:accent5>
      <a:accent6>
        <a:srgbClr val="A9D6CA"/>
      </a:accent6>
      <a:hlink>
        <a:srgbClr val="1A8F78"/>
      </a:hlink>
      <a:folHlink>
        <a:srgbClr val="4F766C"/>
      </a:folHlink>
    </a:clrScheme>
    <a:fontScheme name="ClinicalMint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linicalMint">
  <a:themeElements>
    <a:clrScheme name="ClinicalMint">
      <a:dk1>
        <a:srgbClr val="041412"/>
      </a:dk1>
      <a:lt1>
        <a:srgbClr val="FFFFFF"/>
      </a:lt1>
      <a:dk2>
        <a:srgbClr val="0B2B26"/>
      </a:dk2>
      <a:lt2>
        <a:srgbClr val="EEF6F3"/>
      </a:lt2>
      <a:accent1>
        <a:srgbClr val="5FE0C0"/>
      </a:accent1>
      <a:accent2>
        <a:srgbClr val="1A8F78"/>
      </a:accent2>
      <a:accent3>
        <a:srgbClr val="C9503F"/>
      </a:accent3>
      <a:accent4>
        <a:srgbClr val="E8B04A"/>
      </a:accent4>
      <a:accent5>
        <a:srgbClr val="4F766C"/>
      </a:accent5>
      <a:accent6>
        <a:srgbClr val="A9D6CA"/>
      </a:accent6>
      <a:hlink>
        <a:srgbClr val="1A8F78"/>
      </a:hlink>
      <a:folHlink>
        <a:srgbClr val="4F766C"/>
      </a:folHlink>
    </a:clrScheme>
    <a:fontScheme name="ClinicalMint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7695</Words>
  <Application>WPS Presentation</Application>
  <PresentationFormat>On-screen Show (16:9)</PresentationFormat>
  <Paragraphs>475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Microsoft YaHei</vt:lpstr>
      <vt:lpstr>Arial Unicode MS</vt:lpstr>
      <vt:lpstr>Trebuchet MS</vt:lpstr>
      <vt:lpstr>ClinicalMint</vt:lpstr>
      <vt:lpstr>PowerPoint 演示文稿</vt:lpstr>
      <vt:lpstr>Background: why readmissions matter</vt:lpstr>
      <vt:lpstr>Problem statement</vt:lpstr>
      <vt:lpstr>Motivation</vt:lpstr>
      <vt:lpstr>Objectives</vt:lpstr>
      <vt:lpstr>Existing system vs proposed system</vt:lpstr>
      <vt:lpstr>System architecture</vt:lpstr>
      <vt:lpstr>Methodology and workflow</vt:lpstr>
      <vt:lpstr>Technology stack</vt:lpstr>
      <vt:lpstr>System modules</vt:lpstr>
      <vt:lpstr>Dataset</vt:lpstr>
      <vt:lpstr>Data preprocessing</vt:lpstr>
      <vt:lpstr>Algorithm: Elastic Net Logistic Regression</vt:lpstr>
      <vt:lpstr>Results: model performance</vt:lpstr>
      <vt:lpstr>Demo: home page and patient input</vt:lpstr>
      <vt:lpstr>Demo: processing and risk result</vt:lpstr>
      <vt:lpstr>Advantages and applications</vt:lpstr>
      <vt:lpstr>Limitations and future scope</vt:lpstr>
      <vt:lpstr>Conclusion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Readmission Prediction Using Elastic Net Regularized Logistic Regression</dc:title>
  <dc:creator>Team 23</dc:creator>
  <dc:subject>PptxGenJS Presentation</dc:subject>
  <cp:lastModifiedBy>SAMBAREDDY VENNELA</cp:lastModifiedBy>
  <cp:revision>2</cp:revision>
  <dcterms:created xsi:type="dcterms:W3CDTF">2026-10-14T06:21:00Z</dcterms:created>
  <dcterms:modified xsi:type="dcterms:W3CDTF">2026-10-14T06:27:20Z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C04732443ECE47CC843741D408F8DEC3_12</vt:lpwstr>
  </property>
  <property fmtid="{D5CDD505-2E9C-101B-9397-08002B2CF9AE}" pid="3" name="KSOProductBuildVer">
    <vt:lpwstr>1033-12.1.0.29162</vt:lpwstr>
  </property>
</Properties>
</file>